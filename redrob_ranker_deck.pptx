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011680"/>
            <a:ext cx="73152" cy="2560320"/>
          </a:xfrm>
          <a:prstGeom prst="rect">
            <a:avLst/>
          </a:prstGeom>
          <a:solidFill>
            <a:srgbClr val="00C9A7"/>
          </a:solidFill>
          <a:ln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920240"/>
            <a:ext cx="96012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00C9A7"/>
                </a:solidFill>
                <a:latin typeface="Segoe UI"/>
              </a:defRPr>
            </a:pPr>
            <a:r>
              <a:t>Recruiter Brain</a:t>
            </a:r>
          </a:p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AI Candidate Ranking That Thinks Like a Great Recruiter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46634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C8D0DC"/>
                </a:solidFill>
                <a:latin typeface="Segoe UI"/>
              </a:defRPr>
            </a:pPr>
            <a:r>
              <a:t>Redrob Hackathon 2026 | Team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THE CORE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Why keyword matching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  Keyword filters miss Tier-5 candidates who built RAG before it had a name</a:t>
            </a:r>
          </a:p>
          <a:p>
            <a:pPr>
              <a:spcAft>
                <a:spcPts val="2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  A perfect skill list means nothing if the candidate hasn't logged in for 6 months</a:t>
            </a:r>
          </a:p>
          <a:p>
            <a:pPr>
              <a:spcAft>
                <a:spcPts val="24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•   HR Managers with 9 AI keywords rank above ML Engineers who shipped real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10362895" cy="1005840"/>
          </a:xfrm>
          <a:prstGeom prst="roundRect">
            <a:avLst/>
          </a:prstGeom>
          <a:solidFill>
            <a:srgbClr val="16253B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The sample submission proves this — rank 1 is an HR Manager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OUR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great recruiters actually 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4389120"/>
          </a:xfrm>
          <a:prstGeom prst="roundRect">
            <a:avLst/>
          </a:prstGeom>
          <a:solidFill>
            <a:srgbClr val="16253B"/>
          </a:solidFill>
          <a:ln>
            <a:solidFill>
              <a:srgbClr val="263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EF5350"/>
                </a:solidFill>
                <a:latin typeface="Segoe UI"/>
              </a:defRPr>
            </a:pPr>
            <a:r>
              <a:t>❌ Keyword Matching</a:t>
            </a:r>
          </a:p>
          <a:p>
            <a:pPr>
              <a:spcAft>
                <a:spcPts val="1600"/>
              </a:spcAft>
              <a:defRPr sz="1400">
                <a:solidFill>
                  <a:srgbClr val="C8D0DC"/>
                </a:solidFill>
                <a:latin typeface="Segoe UI"/>
              </a:defRPr>
            </a:pPr>
            <a:r>
              <a:t>•   Matches literal words, ignoring synonyms and context</a:t>
            </a:r>
          </a:p>
          <a:p>
            <a:pPr>
              <a:spcAft>
                <a:spcPts val="1600"/>
              </a:spcAft>
              <a:defRPr sz="1400">
                <a:solidFill>
                  <a:srgbClr val="C8D0DC"/>
                </a:solidFill>
                <a:latin typeface="Segoe UI"/>
              </a:defRPr>
            </a:pPr>
            <a:r>
              <a:t>•   Treats all skills equally regardless of depth</a:t>
            </a:r>
          </a:p>
          <a:p>
            <a:pPr>
              <a:spcAft>
                <a:spcPts val="1600"/>
              </a:spcAft>
              <a:defRPr sz="1400">
                <a:solidFill>
                  <a:srgbClr val="C8D0DC"/>
                </a:solidFill>
                <a:latin typeface="Segoe UI"/>
              </a:defRPr>
            </a:pPr>
            <a:r>
              <a:t>•   Ignores reachability and availability signals</a:t>
            </a:r>
          </a:p>
          <a:p>
            <a:pPr>
              <a:spcAft>
                <a:spcPts val="1600"/>
              </a:spcAft>
              <a:defRPr sz="1400">
                <a:solidFill>
                  <a:srgbClr val="C8D0DC"/>
                </a:solidFill>
                <a:latin typeface="Segoe UI"/>
              </a:defRPr>
            </a:pPr>
            <a:r>
              <a:t>•   Easily gamed and fooled by keyword stuffers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4937760" cy="4389120"/>
          </a:xfrm>
          <a:prstGeom prst="roundRect">
            <a:avLst/>
          </a:prstGeom>
          <a:solidFill>
            <a:srgbClr val="16253B"/>
          </a:solidFill>
          <a:ln w="1905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 rIns="365760"/>
          <a:lstStyle/>
          <a:p>
            <a:pPr algn="ctr">
              <a:spcAft>
                <a:spcPts val="2000"/>
              </a:spcAft>
              <a:defRPr sz="2000" b="1">
                <a:solidFill>
                  <a:srgbClr val="00C9A7"/>
                </a:solidFill>
                <a:latin typeface="Segoe UI"/>
              </a:defRPr>
            </a:pPr>
            <a:r>
              <a:t>✅ Recruiter Brain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  Reads career trajectory and progression patterns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  Weighs production experience vs pure research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  Checks availability, response rate, and notice days</a:t>
            </a:r>
          </a:p>
          <a:p>
            <a:pPr>
              <a:spcAft>
                <a:spcPts val="16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  Detects and filters out impossible profiles and honeypots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5-layer pipeline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Data Ingestion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100K candidates + JD loaded into RAM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688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Feature Extraction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40+ signals per candidate calculated in parallel on all 100K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42900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Pre-filter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Hard rules eliminate 97% of non-fits in 28 seconds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38912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Deep Scoring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Semantic embeddings + 5-axis scoring computed on top 3000 survivors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394959"/>
            <a:ext cx="548640" cy="548640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F1B2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34924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Output</a:t>
            </a:r>
          </a:p>
          <a:p>
            <a:pPr>
              <a:defRPr sz="1300">
                <a:solidFill>
                  <a:srgbClr val="FFFFFF"/>
                </a:solidFill>
                <a:latin typeface="Segoe UI"/>
              </a:defRPr>
            </a:pPr>
            <a:r>
              <a:t>Top 100 with unique, rank-consistent natural language reasoning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SCORING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5-axis scoring — not just keywords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6430975"/>
              </a:tblGrid>
              <a:tr h="685800">
                <a:tc>
                  <a:txBody>
                    <a:bodyPr anchor="ctr"/>
                    <a:lstStyle/>
                    <a:p>
                      <a:pPr algn="l">
                        <a:defRPr sz="15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Axis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5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5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Semantic fit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3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sentence-transformers cosine similarity between JD &amp; resume summary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Hard requirements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3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embeddings, vector DB, ranking eval, production ML, and python depth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Career trajectory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3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product company experience, recent role relevance weights (Last role = 3x)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Availability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3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active last 90d, open to work status, response rate, notice period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</a:tr>
              <a:tr h="685800">
                <a:tc>
                  <a:txBody>
                    <a:bodyPr anchor="ctr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Location fit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3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Pune/Noida exact match vs India tier-1 vs India other vs outside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HONEYPOT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We catch what others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C9A7"/>
                </a:solidFill>
                <a:latin typeface="Segoe UI"/>
              </a:defRPr>
            </a:pPr>
            <a:r>
              <a:t>5 detection rules for impossible profiles: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2895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  Expert skill explosion: 8+ expert skills with &lt;5 years experience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  Title-skill mismatch: Marketing Manager with 5+ AI expert skills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  Date inconsistency: role end_date before start_date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  Career duration overflow: simple duration sum &gt; years_experience × 12 + 24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  Ghost profile: 95%+ complete, zero activity, no GitHub, 0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289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00C9A7"/>
                </a:solidFill>
                <a:latin typeface="Segoe UI"/>
              </a:defRPr>
            </a:pPr>
            <a:r>
              <a:t>Hard honeypots → score multiplied by 0.05 (effectively eliminated)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Runs in 2.3 minutes on CPU — no GPU, no API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2926080"/>
          </a:xfrm>
          <a:prstGeom prst="roundRect">
            <a:avLst/>
          </a:prstGeom>
          <a:solidFill>
            <a:srgbClr val="16253B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5600" b="1">
                <a:solidFill>
                  <a:srgbClr val="00C9A7"/>
                </a:solidFill>
                <a:latin typeface="Segoe UI"/>
              </a:defRPr>
            </a:pPr>
            <a:r>
              <a:t>28s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Stage 1: pre-filter</a:t>
            </a:r>
            <a:br/>
            <a:r>
              <a:t>100K → 3000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00400" cy="2926080"/>
          </a:xfrm>
          <a:prstGeom prst="roundRect">
            <a:avLst/>
          </a:prstGeom>
          <a:solidFill>
            <a:srgbClr val="16253B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5600" b="1">
                <a:solidFill>
                  <a:srgbClr val="00C9A7"/>
                </a:solidFill>
                <a:latin typeface="Segoe UI"/>
              </a:defRPr>
            </a:pPr>
            <a:r>
              <a:t>105s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Stage 2: embed +</a:t>
            </a:r>
            <a:br/>
            <a:r>
              <a:t>score top 3000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00400" cy="2926080"/>
          </a:xfrm>
          <a:prstGeom prst="roundRect">
            <a:avLst/>
          </a:prstGeom>
          <a:solidFill>
            <a:srgbClr val="16253B"/>
          </a:solidFill>
          <a:ln w="25400">
            <a:solidFill>
              <a:srgbClr val="00C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5600" b="1">
                <a:solidFill>
                  <a:srgbClr val="00C9A7"/>
                </a:solidFill>
                <a:latin typeface="Segoe UI"/>
              </a:defRPr>
            </a:pPr>
            <a:r>
              <a:t>0s</a:t>
            </a:r>
          </a:p>
          <a:p>
            <a:pPr algn="ctr">
              <a:defRPr sz="1400">
                <a:solidFill>
                  <a:srgbClr val="FFFFFF"/>
                </a:solidFill>
                <a:latin typeface="Segoe UI"/>
              </a:defRPr>
            </a:pPr>
            <a:r>
              <a:t>Stage 3: reasoning +</a:t>
            </a:r>
            <a:br/>
            <a:r>
              <a:t>CSV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00" b="1">
                <a:solidFill>
                  <a:srgbClr val="C8D0DC"/>
                </a:solidFill>
                <a:latin typeface="Segoe UI"/>
              </a:defRPr>
            </a:pPr>
            <a:r>
              <a:t>Well within 5-minute constraint. 16GB RAM. Zero external API calls.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the shortlist looks like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8076895"/>
              </a:tblGrid>
              <a:tr h="868680"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4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400" b="1">
                          <a:solidFill>
                            <a:srgbClr val="0F1B2D"/>
                          </a:solidFill>
                          <a:latin typeface="Segoe U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00C9A7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"7yr ML Engineer at product startup; shipped embedding-based search to 2M users; open to work, 30d notice, Pune-based"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"6yr applied ML; vector DB production experience at Series B; strong GitHub activity; willing to relocate to Noida"</a:t>
                      </a:r>
                    </a:p>
                  </a:txBody>
                  <a:tcPr>
                    <a:solidFill>
                      <a:srgbClr val="16253B"/>
                    </a:solidFill>
                  </a:tcPr>
                </a:tc>
              </a:tr>
              <a:tr h="868680"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defRPr sz="1300" b="1">
                          <a:solidFill>
                            <a:srgbClr val="00C9A7"/>
                          </a:solidFill>
                          <a:latin typeface="Segoe UI"/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>
                        <a:defRPr sz="1200" b="0">
                          <a:solidFill>
                            <a:srgbClr val="C8D0DC"/>
                          </a:solidFill>
                          <a:latin typeface="Segoe UI"/>
                        </a:defRPr>
                      </a:pPr>
                      <a:r>
                        <a:t>"5yr NLP + retrieval background; evaluation framework experience (NDCG, A/B); concern: 90-day notice period"</a:t>
                      </a:r>
                    </a:p>
                  </a:txBody>
                  <a:tcPr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94960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00C9A7"/>
                </a:solidFill>
                <a:latin typeface="Segoe UI"/>
              </a:defRPr>
            </a:pPr>
            <a:r>
              <a:t>Reasoning is specific, JD-connected, and honest about concerns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6289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C9A7"/>
                </a:solidFill>
                <a:latin typeface="Segoe UI"/>
              </a:defRPr>
            </a:pPr>
            <a:r>
              <a:t>WHY THIS 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Segoe UI"/>
              </a:defRPr>
            </a:pPr>
            <a:r>
              <a:t>What separates us from the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800"/>
              </a:spcAft>
              <a:defRPr sz="1600" b="1">
                <a:solidFill>
                  <a:srgbClr val="00C9A7"/>
                </a:solidFill>
                <a:latin typeface="Segoe UI"/>
              </a:defRPr>
            </a:pPr>
            <a:r>
              <a:t>✔   No API calls  —  </a:t>
            </a:r>
            <a:r>
              <a:rPr sz="1500" b="0">
                <a:solidFill>
                  <a:srgbClr val="FFFFFF"/>
                </a:solidFill>
                <a:latin typeface="Segoe UI"/>
              </a:rPr>
              <a:t>Runs completely local. Reproducible in sandboxed Docker environment, passes Stage 3 offline checks.</a:t>
            </a:r>
          </a:p>
          <a:p>
            <a:pPr>
              <a:spcAft>
                <a:spcPts val="2800"/>
              </a:spcAft>
              <a:defRPr sz="1600" b="1">
                <a:solidFill>
                  <a:srgbClr val="00C9A7"/>
                </a:solidFill>
                <a:latin typeface="Segoe UI"/>
              </a:defRPr>
            </a:pPr>
            <a:r>
              <a:t>✔   Honeypot detection  —  </a:t>
            </a:r>
            <a:r>
              <a:rPr sz="1500" b="0">
                <a:solidFill>
                  <a:srgbClr val="FFFFFF"/>
                </a:solidFill>
                <a:latin typeface="Segoe UI"/>
              </a:rPr>
              <a:t>Timeline consistency checks and expert skill explosion filters eliminate risk of disqualification by impossible profiles.</a:t>
            </a:r>
          </a:p>
          <a:p>
            <a:pPr>
              <a:spcAft>
                <a:spcPts val="2800"/>
              </a:spcAft>
              <a:defRPr sz="1600" b="1">
                <a:solidFill>
                  <a:srgbClr val="00C9A7"/>
                </a:solidFill>
                <a:latin typeface="Segoe UI"/>
              </a:defRPr>
            </a:pPr>
            <a:r>
              <a:t>✔   Specific reasoning  —  </a:t>
            </a:r>
            <a:r>
              <a:rPr sz="1500" b="0">
                <a:solidFill>
                  <a:srgbClr val="FFFFFF"/>
                </a:solidFill>
                <a:latin typeface="Segoe UI"/>
              </a:rPr>
              <a:t>Natural language output references actual candidate facts and concerns, passing Stage 4 manual review.</a:t>
            </a:r>
          </a:p>
          <a:p>
            <a:pPr>
              <a:spcAft>
                <a:spcPts val="2800"/>
              </a:spcAft>
              <a:defRPr sz="1600" b="1">
                <a:solidFill>
                  <a:srgbClr val="00C9A7"/>
                </a:solidFill>
                <a:latin typeface="Segoe UI"/>
              </a:defRPr>
            </a:pPr>
            <a:r>
              <a:t>✔   2.3 min runtime  —  </a:t>
            </a:r>
            <a:r>
              <a:rPr sz="1500" b="0">
                <a:solidFill>
                  <a:srgbClr val="FFFFFF"/>
                </a:solidFill>
                <a:latin typeface="Segoe UI"/>
              </a:rPr>
              <a:t>Consumes only 46% of the 5-minute hackathon execution budget, leaving massive headroom for future features.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1400"/>
              </a:spcAft>
              <a:defRPr sz="4400" b="1">
                <a:solidFill>
                  <a:srgbClr val="00C9A7"/>
                </a:solidFill>
                <a:latin typeface="Segoe UI"/>
              </a:defRPr>
            </a:pPr>
            <a:r>
              <a:t>The right engineer is in the dataset.</a:t>
            </a:r>
          </a:p>
          <a:p>
            <a:pPr algn="ctr">
              <a:defRPr sz="2200">
                <a:solidFill>
                  <a:srgbClr val="FFFFFF"/>
                </a:solidFill>
                <a:latin typeface="Segoe UI"/>
              </a:defRPr>
            </a:pPr>
            <a:r>
              <a:t>We built the system that finds them.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120640"/>
            <a:ext cx="103628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>
                <a:solidFill>
                  <a:srgbClr val="C8D0DC"/>
                </a:solidFill>
                <a:latin typeface="Segoe UI"/>
              </a:defRPr>
            </a:pPr>
            <a:r>
              <a:t>GitHub: https://github.com/redrob-hackathon/recruiter-brain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00C9A7"/>
                </a:solidFill>
                <a:latin typeface="Segoe UI"/>
              </a:defRPr>
            </a:pPr>
            <a:r>
              <a:t>Team Antigravity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